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arlow Condensed Heavy" charset="1" panose="00000A06000000000000"/>
      <p:regular r:id="rId21"/>
    </p:embeddedFont>
    <p:embeddedFont>
      <p:font typeface="Akzidenz-Grotesk Heavy" charset="1" panose="02000503050000020004"/>
      <p:regular r:id="rId22"/>
    </p:embeddedFont>
    <p:embeddedFont>
      <p:font typeface="Aileron Bold" charset="1" panose="00000800000000000000"/>
      <p:regular r:id="rId23"/>
    </p:embeddedFont>
    <p:embeddedFont>
      <p:font typeface="Aileron Ultra-Bold" charset="1" panose="00000A00000000000000"/>
      <p:regular r:id="rId24"/>
    </p:embeddedFont>
    <p:embeddedFont>
      <p:font typeface="Akzidenz-Grotesk" charset="1" panose="020005030300000200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3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6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69396" y="2719229"/>
            <a:ext cx="2544433" cy="2544433"/>
          </a:xfrm>
          <a:custGeom>
            <a:avLst/>
            <a:gdLst/>
            <a:ahLst/>
            <a:cxnLst/>
            <a:rect r="r" b="b" t="t" l="l"/>
            <a:pathLst>
              <a:path h="2544433" w="2544433">
                <a:moveTo>
                  <a:pt x="0" y="0"/>
                </a:moveTo>
                <a:lnTo>
                  <a:pt x="2544432" y="0"/>
                </a:lnTo>
                <a:lnTo>
                  <a:pt x="2544432" y="2544433"/>
                </a:lnTo>
                <a:lnTo>
                  <a:pt x="0" y="2544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98615" y="3307946"/>
            <a:ext cx="11071218" cy="5950354"/>
            <a:chOff x="-1270" y="0"/>
            <a:chExt cx="5373370" cy="28879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73370" cy="2887980"/>
            </a:xfrm>
            <a:custGeom>
              <a:avLst/>
              <a:gdLst/>
              <a:ahLst/>
              <a:cxnLst/>
              <a:rect r="r" b="b" t="t" l="l"/>
              <a:pathLst>
                <a:path h="2887980" w="5373370">
                  <a:moveTo>
                    <a:pt x="5373370" y="621030"/>
                  </a:moveTo>
                  <a:cubicBezTo>
                    <a:pt x="5373370" y="963930"/>
                    <a:pt x="5095240" y="1242060"/>
                    <a:pt x="4752340" y="1242060"/>
                  </a:cubicBezTo>
                  <a:lnTo>
                    <a:pt x="3628390" y="1242060"/>
                  </a:lnTo>
                  <a:cubicBezTo>
                    <a:pt x="3602990" y="1242060"/>
                    <a:pt x="3582670" y="1263650"/>
                    <a:pt x="3582670" y="1289050"/>
                  </a:cubicBezTo>
                  <a:cubicBezTo>
                    <a:pt x="3582670" y="1380490"/>
                    <a:pt x="3562350" y="1466850"/>
                    <a:pt x="3528060" y="1545590"/>
                  </a:cubicBezTo>
                  <a:cubicBezTo>
                    <a:pt x="3506470" y="1592580"/>
                    <a:pt x="3540760" y="1645920"/>
                    <a:pt x="3592830" y="1645920"/>
                  </a:cubicBezTo>
                  <a:cubicBezTo>
                    <a:pt x="3935730" y="1645920"/>
                    <a:pt x="4213860" y="1924050"/>
                    <a:pt x="4213860" y="2266950"/>
                  </a:cubicBezTo>
                  <a:cubicBezTo>
                    <a:pt x="4213860" y="2609850"/>
                    <a:pt x="3935730" y="2887980"/>
                    <a:pt x="3592830" y="2887980"/>
                  </a:cubicBezTo>
                  <a:lnTo>
                    <a:pt x="1252220" y="2887980"/>
                  </a:lnTo>
                  <a:cubicBezTo>
                    <a:pt x="909320" y="2887980"/>
                    <a:pt x="631190" y="2609850"/>
                    <a:pt x="631190" y="2266950"/>
                  </a:cubicBezTo>
                  <a:cubicBezTo>
                    <a:pt x="631190" y="2175510"/>
                    <a:pt x="651510" y="2089150"/>
                    <a:pt x="685800" y="2010410"/>
                  </a:cubicBezTo>
                  <a:cubicBezTo>
                    <a:pt x="707390" y="1963420"/>
                    <a:pt x="673100" y="1910080"/>
                    <a:pt x="621030" y="1910080"/>
                  </a:cubicBezTo>
                  <a:cubicBezTo>
                    <a:pt x="278130" y="1910080"/>
                    <a:pt x="0" y="1631950"/>
                    <a:pt x="0" y="1289050"/>
                  </a:cubicBezTo>
                  <a:cubicBezTo>
                    <a:pt x="0" y="946150"/>
                    <a:pt x="278130" y="668020"/>
                    <a:pt x="621030" y="668020"/>
                  </a:cubicBezTo>
                  <a:lnTo>
                    <a:pt x="1744980" y="668020"/>
                  </a:lnTo>
                  <a:cubicBezTo>
                    <a:pt x="1770380" y="668020"/>
                    <a:pt x="1790700" y="647700"/>
                    <a:pt x="1790700" y="622300"/>
                  </a:cubicBezTo>
                  <a:lnTo>
                    <a:pt x="1790700" y="621030"/>
                  </a:lnTo>
                  <a:cubicBezTo>
                    <a:pt x="1790700" y="278130"/>
                    <a:pt x="2068830" y="0"/>
                    <a:pt x="2411730" y="0"/>
                  </a:cubicBezTo>
                  <a:lnTo>
                    <a:pt x="4751070" y="0"/>
                  </a:lnTo>
                  <a:cubicBezTo>
                    <a:pt x="5095240" y="0"/>
                    <a:pt x="5373370" y="278130"/>
                    <a:pt x="5373370" y="621030"/>
                  </a:cubicBezTo>
                  <a:close/>
                </a:path>
              </a:pathLst>
            </a:custGeom>
            <a:blipFill>
              <a:blip r:embed="rId4"/>
              <a:stretch>
                <a:fillRect l="0" t="-2329" r="0" b="-232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36521" y="3307946"/>
            <a:ext cx="2594369" cy="4588246"/>
            <a:chOff x="0" y="0"/>
            <a:chExt cx="683291" cy="12084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3291" cy="1208427"/>
            </a:xfrm>
            <a:custGeom>
              <a:avLst/>
              <a:gdLst/>
              <a:ahLst/>
              <a:cxnLst/>
              <a:rect r="r" b="b" t="t" l="l"/>
              <a:pathLst>
                <a:path h="1208427" w="683291">
                  <a:moveTo>
                    <a:pt x="152190" y="0"/>
                  </a:moveTo>
                  <a:lnTo>
                    <a:pt x="531100" y="0"/>
                  </a:lnTo>
                  <a:cubicBezTo>
                    <a:pt x="571464" y="0"/>
                    <a:pt x="610174" y="16034"/>
                    <a:pt x="638715" y="44576"/>
                  </a:cubicBezTo>
                  <a:cubicBezTo>
                    <a:pt x="667256" y="73117"/>
                    <a:pt x="683291" y="111827"/>
                    <a:pt x="683291" y="152190"/>
                  </a:cubicBezTo>
                  <a:lnTo>
                    <a:pt x="683291" y="1056237"/>
                  </a:lnTo>
                  <a:cubicBezTo>
                    <a:pt x="683291" y="1096600"/>
                    <a:pt x="667256" y="1135310"/>
                    <a:pt x="638715" y="1163852"/>
                  </a:cubicBezTo>
                  <a:cubicBezTo>
                    <a:pt x="610174" y="1192393"/>
                    <a:pt x="571464" y="1208427"/>
                    <a:pt x="531100" y="1208427"/>
                  </a:cubicBezTo>
                  <a:lnTo>
                    <a:pt x="152190" y="1208427"/>
                  </a:lnTo>
                  <a:cubicBezTo>
                    <a:pt x="111827" y="1208427"/>
                    <a:pt x="73117" y="1192393"/>
                    <a:pt x="44576" y="1163852"/>
                  </a:cubicBezTo>
                  <a:cubicBezTo>
                    <a:pt x="16034" y="1135310"/>
                    <a:pt x="0" y="1096600"/>
                    <a:pt x="0" y="1056237"/>
                  </a:cubicBezTo>
                  <a:lnTo>
                    <a:pt x="0" y="152190"/>
                  </a:lnTo>
                  <a:cubicBezTo>
                    <a:pt x="0" y="111827"/>
                    <a:pt x="16034" y="73117"/>
                    <a:pt x="44576" y="44576"/>
                  </a:cubicBezTo>
                  <a:cubicBezTo>
                    <a:pt x="73117" y="16034"/>
                    <a:pt x="111827" y="0"/>
                    <a:pt x="15219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83291" cy="1256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731511" y="1434222"/>
            <a:ext cx="305535" cy="302202"/>
          </a:xfrm>
          <a:custGeom>
            <a:avLst/>
            <a:gdLst/>
            <a:ahLst/>
            <a:cxnLst/>
            <a:rect r="r" b="b" t="t" l="l"/>
            <a:pathLst>
              <a:path h="302202" w="305535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-252231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58605" y="3307946"/>
            <a:ext cx="1025128" cy="1025128"/>
          </a:xfrm>
          <a:custGeom>
            <a:avLst/>
            <a:gdLst/>
            <a:ahLst/>
            <a:cxnLst/>
            <a:rect r="r" b="b" t="t" l="l"/>
            <a:pathLst>
              <a:path h="1025128" w="1025128">
                <a:moveTo>
                  <a:pt x="0" y="0"/>
                </a:moveTo>
                <a:lnTo>
                  <a:pt x="1025127" y="0"/>
                </a:lnTo>
                <a:lnTo>
                  <a:pt x="1025127" y="1025127"/>
                </a:lnTo>
                <a:lnTo>
                  <a:pt x="0" y="10251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43805" y="824861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69424" y="2436835"/>
            <a:ext cx="806841" cy="564789"/>
          </a:xfrm>
          <a:custGeom>
            <a:avLst/>
            <a:gdLst/>
            <a:ahLst/>
            <a:cxnLst/>
            <a:rect r="r" b="b" t="t" l="l"/>
            <a:pathLst>
              <a:path h="564789" w="806841">
                <a:moveTo>
                  <a:pt x="0" y="0"/>
                </a:moveTo>
                <a:lnTo>
                  <a:pt x="806840" y="0"/>
                </a:lnTo>
                <a:lnTo>
                  <a:pt x="806840" y="564788"/>
                </a:lnTo>
                <a:lnTo>
                  <a:pt x="0" y="5647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412807" y="8799767"/>
            <a:ext cx="1483489" cy="458533"/>
          </a:xfrm>
          <a:custGeom>
            <a:avLst/>
            <a:gdLst/>
            <a:ahLst/>
            <a:cxnLst/>
            <a:rect r="r" b="b" t="t" l="l"/>
            <a:pathLst>
              <a:path h="458533" w="1483489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12807" y="2933713"/>
            <a:ext cx="9734623" cy="252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6399" b="true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FUZZY LOGIC - BASED CLASSIFICATION SYSTEM FOR DIABETES RISK PREDICTION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12807" y="6504405"/>
            <a:ext cx="9545798" cy="136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2"/>
              </a:lnSpc>
            </a:pPr>
            <a:r>
              <a:rPr lang="en-US" sz="4200" b="true">
                <a:solidFill>
                  <a:srgbClr val="021828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BCS2313</a:t>
            </a:r>
          </a:p>
          <a:p>
            <a:pPr algn="l">
              <a:lnSpc>
                <a:spcPts val="4716"/>
              </a:lnSpc>
            </a:pPr>
            <a:r>
              <a:rPr lang="en-US" sz="3600" b="true">
                <a:solidFill>
                  <a:srgbClr val="021828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ARTIFICIAL INTELLIGENCE TECHNIQUE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4028" y="6733028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392170"/>
            <a:ext cx="5650143" cy="5894830"/>
            <a:chOff x="0" y="0"/>
            <a:chExt cx="1488104" cy="15525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8104" cy="1552548"/>
            </a:xfrm>
            <a:custGeom>
              <a:avLst/>
              <a:gdLst/>
              <a:ahLst/>
              <a:cxnLst/>
              <a:rect r="r" b="b" t="t" l="l"/>
              <a:pathLst>
                <a:path h="1552548" w="1488104">
                  <a:moveTo>
                    <a:pt x="0" y="0"/>
                  </a:moveTo>
                  <a:lnTo>
                    <a:pt x="1488104" y="0"/>
                  </a:lnTo>
                  <a:lnTo>
                    <a:pt x="1488104" y="1552548"/>
                  </a:lnTo>
                  <a:lnTo>
                    <a:pt x="0" y="1552548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88104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689442"/>
            <a:ext cx="5650143" cy="56501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3795" t="0" r="-1379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48406" y="1028700"/>
            <a:ext cx="1858734" cy="185873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277754" y="1509529"/>
            <a:ext cx="600038" cy="897076"/>
          </a:xfrm>
          <a:custGeom>
            <a:avLst/>
            <a:gdLst/>
            <a:ahLst/>
            <a:cxnLst/>
            <a:rect r="r" b="b" t="t" l="l"/>
            <a:pathLst>
              <a:path h="897076" w="600038">
                <a:moveTo>
                  <a:pt x="0" y="0"/>
                </a:moveTo>
                <a:lnTo>
                  <a:pt x="600038" y="0"/>
                </a:lnTo>
                <a:lnTo>
                  <a:pt x="600038" y="897076"/>
                </a:lnTo>
                <a:lnTo>
                  <a:pt x="0" y="897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58327" y="7453986"/>
            <a:ext cx="2763919" cy="882511"/>
          </a:xfrm>
          <a:custGeom>
            <a:avLst/>
            <a:gdLst/>
            <a:ahLst/>
            <a:cxnLst/>
            <a:rect r="r" b="b" t="t" l="l"/>
            <a:pathLst>
              <a:path h="882511" w="2763919">
                <a:moveTo>
                  <a:pt x="0" y="0"/>
                </a:moveTo>
                <a:lnTo>
                  <a:pt x="2763918" y="0"/>
                </a:lnTo>
                <a:lnTo>
                  <a:pt x="2763918" y="882511"/>
                </a:lnTo>
                <a:lnTo>
                  <a:pt x="0" y="882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31524" y="7665975"/>
            <a:ext cx="1483489" cy="458533"/>
          </a:xfrm>
          <a:custGeom>
            <a:avLst/>
            <a:gdLst/>
            <a:ahLst/>
            <a:cxnLst/>
            <a:rect r="r" b="b" t="t" l="l"/>
            <a:pathLst>
              <a:path h="458533" w="1483489">
                <a:moveTo>
                  <a:pt x="0" y="0"/>
                </a:moveTo>
                <a:lnTo>
                  <a:pt x="1483490" y="0"/>
                </a:lnTo>
                <a:lnTo>
                  <a:pt x="1483490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264511" y="5348601"/>
            <a:ext cx="1025128" cy="1025128"/>
          </a:xfrm>
          <a:custGeom>
            <a:avLst/>
            <a:gdLst/>
            <a:ahLst/>
            <a:cxnLst/>
            <a:rect r="r" b="b" t="t" l="l"/>
            <a:pathLst>
              <a:path h="1025128" w="1025128">
                <a:moveTo>
                  <a:pt x="0" y="0"/>
                </a:moveTo>
                <a:lnTo>
                  <a:pt x="1025128" y="0"/>
                </a:lnTo>
                <a:lnTo>
                  <a:pt x="1025128" y="1025127"/>
                </a:lnTo>
                <a:lnTo>
                  <a:pt x="0" y="102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558327" y="4315970"/>
            <a:ext cx="7829884" cy="253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To develop and implement a fuzzy logic-based classification system for automated diabetes diagnosis and risk assessment.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58327" y="3127043"/>
            <a:ext cx="4904983" cy="1152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7"/>
              </a:lnSpc>
            </a:pPr>
            <a:r>
              <a:rPr lang="en-US" sz="6399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Objective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748190"/>
            <a:ext cx="1043351" cy="1043351"/>
            <a:chOff x="0" y="0"/>
            <a:chExt cx="274792" cy="27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792" cy="274792"/>
            </a:xfrm>
            <a:custGeom>
              <a:avLst/>
              <a:gdLst/>
              <a:ahLst/>
              <a:cxnLst/>
              <a:rect r="r" b="b" t="t" l="l"/>
              <a:pathLst>
                <a:path h="274792" w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981569"/>
            <a:ext cx="1043351" cy="1043351"/>
            <a:chOff x="0" y="0"/>
            <a:chExt cx="274792" cy="274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792" cy="274792"/>
            </a:xfrm>
            <a:custGeom>
              <a:avLst/>
              <a:gdLst/>
              <a:ahLst/>
              <a:cxnLst/>
              <a:rect r="r" b="b" t="t" l="l"/>
              <a:pathLst>
                <a:path h="274792" w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214949"/>
            <a:ext cx="1043351" cy="1043351"/>
            <a:chOff x="0" y="0"/>
            <a:chExt cx="274792" cy="2747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792" cy="274792"/>
            </a:xfrm>
            <a:custGeom>
              <a:avLst/>
              <a:gdLst/>
              <a:ahLst/>
              <a:cxnLst/>
              <a:rect r="r" b="b" t="t" l="l"/>
              <a:pathLst>
                <a:path h="274792" w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48550" y="2782372"/>
            <a:ext cx="4829892" cy="5894830"/>
            <a:chOff x="0" y="0"/>
            <a:chExt cx="1272070" cy="1552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529232" y="5748190"/>
            <a:ext cx="8730068" cy="3510110"/>
            <a:chOff x="0" y="0"/>
            <a:chExt cx="1352516" cy="5438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2516" cy="543808"/>
            </a:xfrm>
            <a:custGeom>
              <a:avLst/>
              <a:gdLst/>
              <a:ahLst/>
              <a:cxnLst/>
              <a:rect r="r" b="b" t="t" l="l"/>
              <a:pathLst>
                <a:path h="543808" w="1352516">
                  <a:moveTo>
                    <a:pt x="14189" y="0"/>
                  </a:moveTo>
                  <a:lnTo>
                    <a:pt x="1338327" y="0"/>
                  </a:lnTo>
                  <a:cubicBezTo>
                    <a:pt x="1346163" y="0"/>
                    <a:pt x="1352516" y="6353"/>
                    <a:pt x="1352516" y="14189"/>
                  </a:cubicBezTo>
                  <a:lnTo>
                    <a:pt x="1352516" y="529619"/>
                  </a:lnTo>
                  <a:cubicBezTo>
                    <a:pt x="1352516" y="537455"/>
                    <a:pt x="1346163" y="543808"/>
                    <a:pt x="1338327" y="543808"/>
                  </a:cubicBezTo>
                  <a:lnTo>
                    <a:pt x="14189" y="543808"/>
                  </a:lnTo>
                  <a:cubicBezTo>
                    <a:pt x="6353" y="543808"/>
                    <a:pt x="0" y="537455"/>
                    <a:pt x="0" y="529619"/>
                  </a:cubicBezTo>
                  <a:lnTo>
                    <a:pt x="0" y="14189"/>
                  </a:lnTo>
                  <a:cubicBezTo>
                    <a:pt x="0" y="6353"/>
                    <a:pt x="6353" y="0"/>
                    <a:pt x="1418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267" r="0" b="-43267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74126" y="5793616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74126" y="7072421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74126" y="8200952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2114720"/>
            <a:ext cx="12368312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        Method Used: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Used 8 health indicators as input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Applied fuzzy rules using Mamdani Inference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Produced a Risk Score and Classification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914400"/>
            <a:ext cx="11865566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6"/>
              </a:lnSpc>
            </a:pPr>
            <a:r>
              <a:rPr lang="en-US" sz="4800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Fuzzy Logic Implementation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59584" y="5922703"/>
            <a:ext cx="512294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E2F5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Mimics human reasoning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59584" y="6961397"/>
            <a:ext cx="512294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E2F5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Works with uncertainty and vague inputs 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59584" y="8194776"/>
            <a:ext cx="512294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E2F5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Interpretable and explainable decisions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4947963"/>
            <a:ext cx="2038071" cy="5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4"/>
              </a:lnSpc>
            </a:pPr>
            <a:r>
              <a:rPr lang="en-US" sz="3200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Reasons: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11163" y="7791225"/>
            <a:ext cx="305535" cy="302202"/>
          </a:xfrm>
          <a:custGeom>
            <a:avLst/>
            <a:gdLst/>
            <a:ahLst/>
            <a:cxnLst/>
            <a:rect r="r" b="b" t="t" l="l"/>
            <a:pathLst>
              <a:path h="302202" w="305535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24608" y="-1072654"/>
            <a:ext cx="11438784" cy="2839490"/>
            <a:chOff x="0" y="0"/>
            <a:chExt cx="3012684" cy="7478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2684" cy="747849"/>
            </a:xfrm>
            <a:custGeom>
              <a:avLst/>
              <a:gdLst/>
              <a:ahLst/>
              <a:cxnLst/>
              <a:rect r="r" b="b" t="t" l="l"/>
              <a:pathLst>
                <a:path h="747849" w="3012684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996715"/>
            <a:ext cx="18288000" cy="1290285"/>
            <a:chOff x="0" y="0"/>
            <a:chExt cx="4816593" cy="3398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39828"/>
            </a:xfrm>
            <a:custGeom>
              <a:avLst/>
              <a:gdLst/>
              <a:ahLst/>
              <a:cxnLst/>
              <a:rect r="r" b="b" t="t" l="l"/>
              <a:pathLst>
                <a:path h="33982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0E2F5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097506" y="687895"/>
            <a:ext cx="10769730" cy="8911209"/>
          </a:xfrm>
          <a:custGeom>
            <a:avLst/>
            <a:gdLst/>
            <a:ahLst/>
            <a:cxnLst/>
            <a:rect r="r" b="b" t="t" l="l"/>
            <a:pathLst>
              <a:path h="8911209" w="10769730">
                <a:moveTo>
                  <a:pt x="0" y="0"/>
                </a:moveTo>
                <a:lnTo>
                  <a:pt x="10769730" y="0"/>
                </a:lnTo>
                <a:lnTo>
                  <a:pt x="10769730" y="8911210"/>
                </a:lnTo>
                <a:lnTo>
                  <a:pt x="0" y="8911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53" r="0" b="-769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4145" y="3952261"/>
            <a:ext cx="7097506" cy="1934070"/>
          </a:xfrm>
          <a:custGeom>
            <a:avLst/>
            <a:gdLst/>
            <a:ahLst/>
            <a:cxnLst/>
            <a:rect r="r" b="b" t="t" l="l"/>
            <a:pathLst>
              <a:path h="1934070" w="7097506">
                <a:moveTo>
                  <a:pt x="0" y="0"/>
                </a:moveTo>
                <a:lnTo>
                  <a:pt x="7097506" y="0"/>
                </a:lnTo>
                <a:lnTo>
                  <a:pt x="7097506" y="1934070"/>
                </a:lnTo>
                <a:lnTo>
                  <a:pt x="0" y="1934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2530" y="2189314"/>
            <a:ext cx="5072539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Used 8</a:t>
            </a:r>
            <a:r>
              <a:rPr lang="en-US" b="true" sz="26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health indicators as input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4809" y="3904636"/>
            <a:ext cx="917138" cy="34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Output: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6259" y="3992810"/>
            <a:ext cx="12835678" cy="203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58"/>
              </a:lnSpc>
            </a:pPr>
            <a:r>
              <a:rPr lang="en-US" b="true" sz="16848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JOURNAL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11163" y="7791225"/>
            <a:ext cx="305535" cy="302202"/>
          </a:xfrm>
          <a:custGeom>
            <a:avLst/>
            <a:gdLst/>
            <a:ahLst/>
            <a:cxnLst/>
            <a:rect r="r" b="b" t="t" l="l"/>
            <a:pathLst>
              <a:path h="302202" w="305535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24608" y="-1072654"/>
            <a:ext cx="11438784" cy="2839490"/>
            <a:chOff x="0" y="0"/>
            <a:chExt cx="3012684" cy="7478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12684" cy="747849"/>
            </a:xfrm>
            <a:custGeom>
              <a:avLst/>
              <a:gdLst/>
              <a:ahLst/>
              <a:cxnLst/>
              <a:rect r="r" b="b" t="t" l="l"/>
              <a:pathLst>
                <a:path h="747849" w="3012684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95527" y="1028700"/>
            <a:ext cx="1496945" cy="149694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673581" y="1447879"/>
            <a:ext cx="940838" cy="658587"/>
          </a:xfrm>
          <a:custGeom>
            <a:avLst/>
            <a:gdLst/>
            <a:ahLst/>
            <a:cxnLst/>
            <a:rect r="r" b="b" t="t" l="l"/>
            <a:pathLst>
              <a:path h="658587" w="940838">
                <a:moveTo>
                  <a:pt x="0" y="0"/>
                </a:moveTo>
                <a:lnTo>
                  <a:pt x="940838" y="0"/>
                </a:lnTo>
                <a:lnTo>
                  <a:pt x="940838" y="658587"/>
                </a:lnTo>
                <a:lnTo>
                  <a:pt x="0" y="658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24608" y="4750679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0" y="0"/>
                </a:moveTo>
                <a:lnTo>
                  <a:pt x="1519327" y="0"/>
                </a:lnTo>
                <a:lnTo>
                  <a:pt x="1519327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3344065" y="4750679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1519327" y="0"/>
                </a:moveTo>
                <a:lnTo>
                  <a:pt x="0" y="0"/>
                </a:lnTo>
                <a:lnTo>
                  <a:pt x="0" y="469610"/>
                </a:lnTo>
                <a:lnTo>
                  <a:pt x="1519327" y="469610"/>
                </a:lnTo>
                <a:lnTo>
                  <a:pt x="15193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8996715"/>
            <a:ext cx="18288000" cy="1290285"/>
            <a:chOff x="0" y="0"/>
            <a:chExt cx="4816593" cy="3398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339828"/>
            </a:xfrm>
            <a:custGeom>
              <a:avLst/>
              <a:gdLst/>
              <a:ahLst/>
              <a:cxnLst/>
              <a:rect r="r" b="b" t="t" l="l"/>
              <a:pathLst>
                <a:path h="33982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0E2F5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11163" y="7791225"/>
            <a:ext cx="305535" cy="302202"/>
          </a:xfrm>
          <a:custGeom>
            <a:avLst/>
            <a:gdLst/>
            <a:ahLst/>
            <a:cxnLst/>
            <a:rect r="r" b="b" t="t" l="l"/>
            <a:pathLst>
              <a:path h="302202" w="305535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24608" y="-1072654"/>
            <a:ext cx="11438784" cy="2839490"/>
            <a:chOff x="0" y="0"/>
            <a:chExt cx="3012684" cy="7478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2684" cy="747849"/>
            </a:xfrm>
            <a:custGeom>
              <a:avLst/>
              <a:gdLst/>
              <a:ahLst/>
              <a:cxnLst/>
              <a:rect r="r" b="b" t="t" l="l"/>
              <a:pathLst>
                <a:path h="747849" w="3012684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996715"/>
            <a:ext cx="18288000" cy="1290285"/>
            <a:chOff x="0" y="0"/>
            <a:chExt cx="4816593" cy="3398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39828"/>
            </a:xfrm>
            <a:custGeom>
              <a:avLst/>
              <a:gdLst/>
              <a:ahLst/>
              <a:cxnLst/>
              <a:rect r="r" b="b" t="t" l="l"/>
              <a:pathLst>
                <a:path h="33982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0E2F5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823681" y="325221"/>
            <a:ext cx="13361037" cy="6561129"/>
          </a:xfrm>
          <a:custGeom>
            <a:avLst/>
            <a:gdLst/>
            <a:ahLst/>
            <a:cxnLst/>
            <a:rect r="r" b="b" t="t" l="l"/>
            <a:pathLst>
              <a:path h="6561129" w="13361037">
                <a:moveTo>
                  <a:pt x="0" y="0"/>
                </a:moveTo>
                <a:lnTo>
                  <a:pt x="13361037" y="0"/>
                </a:lnTo>
                <a:lnTo>
                  <a:pt x="13361037" y="6561129"/>
                </a:lnTo>
                <a:lnTo>
                  <a:pt x="0" y="65611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09" t="-31831" r="-320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341777" y="113863"/>
            <a:ext cx="3766384" cy="60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1"/>
              </a:lnSpc>
            </a:pPr>
            <a:r>
              <a:rPr lang="en-US" b="true" sz="4943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JOURNAL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5660" y="7190141"/>
            <a:ext cx="15103640" cy="175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We c</a:t>
            </a:r>
            <a:r>
              <a:rPr lang="en-US" b="true" sz="200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onclude that there is a need to develop efficient fuzzy-based systems in order to increase the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accuracy of diabetes diagnosis and management, since such systems are capable of coping with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uncertainties in medical data and producing interpretable risk assessments, which can aid clinical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decisions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996" y="2782372"/>
            <a:ext cx="18288000" cy="5894830"/>
            <a:chOff x="0" y="0"/>
            <a:chExt cx="4816593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52548"/>
            </a:xfrm>
            <a:custGeom>
              <a:avLst/>
              <a:gdLst/>
              <a:ahLst/>
              <a:cxnLst/>
              <a:rect r="r" b="b" t="t" l="l"/>
              <a:pathLst>
                <a:path h="15525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52548"/>
                  </a:lnTo>
                  <a:lnTo>
                    <a:pt x="0" y="1552548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03111" y="569530"/>
            <a:ext cx="7881777" cy="190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12"/>
              </a:lnSpc>
              <a:spcBef>
                <a:spcPct val="0"/>
              </a:spcBef>
            </a:pPr>
            <a:r>
              <a:rPr lang="en-US" b="true" sz="56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Fuzzy Logic Framework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210086" y="2846239"/>
            <a:ext cx="11867827" cy="5767097"/>
          </a:xfrm>
          <a:custGeom>
            <a:avLst/>
            <a:gdLst/>
            <a:ahLst/>
            <a:cxnLst/>
            <a:rect r="r" b="b" t="t" l="l"/>
            <a:pathLst>
              <a:path h="5767097" w="11867827">
                <a:moveTo>
                  <a:pt x="0" y="0"/>
                </a:moveTo>
                <a:lnTo>
                  <a:pt x="11867828" y="0"/>
                </a:lnTo>
                <a:lnTo>
                  <a:pt x="11867828" y="5767097"/>
                </a:lnTo>
                <a:lnTo>
                  <a:pt x="0" y="5767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44420" y="7058809"/>
            <a:ext cx="3919098" cy="2199491"/>
            <a:chOff x="0" y="0"/>
            <a:chExt cx="607171" cy="340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7171" cy="340759"/>
            </a:xfrm>
            <a:custGeom>
              <a:avLst/>
              <a:gdLst/>
              <a:ahLst/>
              <a:cxnLst/>
              <a:rect r="r" b="b" t="t" l="l"/>
              <a:pathLst>
                <a:path h="340759" w="607171">
                  <a:moveTo>
                    <a:pt x="31607" y="0"/>
                  </a:moveTo>
                  <a:lnTo>
                    <a:pt x="575564" y="0"/>
                  </a:lnTo>
                  <a:cubicBezTo>
                    <a:pt x="583947" y="0"/>
                    <a:pt x="591986" y="3330"/>
                    <a:pt x="597913" y="9257"/>
                  </a:cubicBezTo>
                  <a:cubicBezTo>
                    <a:pt x="603841" y="15185"/>
                    <a:pt x="607171" y="23224"/>
                    <a:pt x="607171" y="31607"/>
                  </a:cubicBezTo>
                  <a:lnTo>
                    <a:pt x="607171" y="309152"/>
                  </a:lnTo>
                  <a:cubicBezTo>
                    <a:pt x="607171" y="317535"/>
                    <a:pt x="603841" y="325574"/>
                    <a:pt x="597913" y="331501"/>
                  </a:cubicBezTo>
                  <a:cubicBezTo>
                    <a:pt x="591986" y="337429"/>
                    <a:pt x="583947" y="340759"/>
                    <a:pt x="575564" y="340759"/>
                  </a:cubicBezTo>
                  <a:lnTo>
                    <a:pt x="31607" y="340759"/>
                  </a:lnTo>
                  <a:cubicBezTo>
                    <a:pt x="14151" y="340759"/>
                    <a:pt x="0" y="326608"/>
                    <a:pt x="0" y="309152"/>
                  </a:cubicBezTo>
                  <a:lnTo>
                    <a:pt x="0" y="31607"/>
                  </a:lnTo>
                  <a:cubicBezTo>
                    <a:pt x="0" y="23224"/>
                    <a:pt x="3330" y="15185"/>
                    <a:pt x="9257" y="9257"/>
                  </a:cubicBezTo>
                  <a:cubicBezTo>
                    <a:pt x="15185" y="3330"/>
                    <a:pt x="23224" y="0"/>
                    <a:pt x="31607" y="0"/>
                  </a:cubicBezTo>
                  <a:close/>
                </a:path>
              </a:pathLst>
            </a:custGeom>
            <a:blipFill>
              <a:blip r:embed="rId2"/>
              <a:stretch>
                <a:fillRect l="-6841" t="0" r="-684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92311" y="7059123"/>
            <a:ext cx="3919098" cy="2199491"/>
            <a:chOff x="0" y="0"/>
            <a:chExt cx="607171" cy="3407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7171" cy="340759"/>
            </a:xfrm>
            <a:custGeom>
              <a:avLst/>
              <a:gdLst/>
              <a:ahLst/>
              <a:cxnLst/>
              <a:rect r="r" b="b" t="t" l="l"/>
              <a:pathLst>
                <a:path h="340759" w="607171">
                  <a:moveTo>
                    <a:pt x="31607" y="0"/>
                  </a:moveTo>
                  <a:lnTo>
                    <a:pt x="575564" y="0"/>
                  </a:lnTo>
                  <a:cubicBezTo>
                    <a:pt x="583947" y="0"/>
                    <a:pt x="591986" y="3330"/>
                    <a:pt x="597913" y="9257"/>
                  </a:cubicBezTo>
                  <a:cubicBezTo>
                    <a:pt x="603841" y="15185"/>
                    <a:pt x="607171" y="23224"/>
                    <a:pt x="607171" y="31607"/>
                  </a:cubicBezTo>
                  <a:lnTo>
                    <a:pt x="607171" y="309152"/>
                  </a:lnTo>
                  <a:cubicBezTo>
                    <a:pt x="607171" y="317535"/>
                    <a:pt x="603841" y="325574"/>
                    <a:pt x="597913" y="331501"/>
                  </a:cubicBezTo>
                  <a:cubicBezTo>
                    <a:pt x="591986" y="337429"/>
                    <a:pt x="583947" y="340759"/>
                    <a:pt x="575564" y="340759"/>
                  </a:cubicBezTo>
                  <a:lnTo>
                    <a:pt x="31607" y="340759"/>
                  </a:lnTo>
                  <a:cubicBezTo>
                    <a:pt x="14151" y="340759"/>
                    <a:pt x="0" y="326608"/>
                    <a:pt x="0" y="309152"/>
                  </a:cubicBezTo>
                  <a:lnTo>
                    <a:pt x="0" y="31607"/>
                  </a:lnTo>
                  <a:cubicBezTo>
                    <a:pt x="0" y="23224"/>
                    <a:pt x="3330" y="15185"/>
                    <a:pt x="9257" y="9257"/>
                  </a:cubicBezTo>
                  <a:cubicBezTo>
                    <a:pt x="15185" y="3330"/>
                    <a:pt x="23224" y="0"/>
                    <a:pt x="31607" y="0"/>
                  </a:cubicBezTo>
                  <a:close/>
                </a:path>
              </a:pathLst>
            </a:custGeom>
            <a:blipFill>
              <a:blip r:embed="rId3"/>
              <a:stretch>
                <a:fillRect l="-6841" t="0" r="-684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40202" y="7059437"/>
            <a:ext cx="3919098" cy="2199491"/>
            <a:chOff x="0" y="0"/>
            <a:chExt cx="607171" cy="3407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7171" cy="340759"/>
            </a:xfrm>
            <a:custGeom>
              <a:avLst/>
              <a:gdLst/>
              <a:ahLst/>
              <a:cxnLst/>
              <a:rect r="r" b="b" t="t" l="l"/>
              <a:pathLst>
                <a:path h="340759" w="607171">
                  <a:moveTo>
                    <a:pt x="31607" y="0"/>
                  </a:moveTo>
                  <a:lnTo>
                    <a:pt x="575564" y="0"/>
                  </a:lnTo>
                  <a:cubicBezTo>
                    <a:pt x="583947" y="0"/>
                    <a:pt x="591986" y="3330"/>
                    <a:pt x="597913" y="9257"/>
                  </a:cubicBezTo>
                  <a:cubicBezTo>
                    <a:pt x="603841" y="15185"/>
                    <a:pt x="607171" y="23224"/>
                    <a:pt x="607171" y="31607"/>
                  </a:cubicBezTo>
                  <a:lnTo>
                    <a:pt x="607171" y="309152"/>
                  </a:lnTo>
                  <a:cubicBezTo>
                    <a:pt x="607171" y="317535"/>
                    <a:pt x="603841" y="325574"/>
                    <a:pt x="597913" y="331501"/>
                  </a:cubicBezTo>
                  <a:cubicBezTo>
                    <a:pt x="591986" y="337429"/>
                    <a:pt x="583947" y="340759"/>
                    <a:pt x="575564" y="340759"/>
                  </a:cubicBezTo>
                  <a:lnTo>
                    <a:pt x="31607" y="340759"/>
                  </a:lnTo>
                  <a:cubicBezTo>
                    <a:pt x="14151" y="340759"/>
                    <a:pt x="0" y="326608"/>
                    <a:pt x="0" y="309152"/>
                  </a:cubicBezTo>
                  <a:lnTo>
                    <a:pt x="0" y="31607"/>
                  </a:lnTo>
                  <a:cubicBezTo>
                    <a:pt x="0" y="23224"/>
                    <a:pt x="3330" y="15185"/>
                    <a:pt x="9257" y="9257"/>
                  </a:cubicBezTo>
                  <a:cubicBezTo>
                    <a:pt x="15185" y="3330"/>
                    <a:pt x="23224" y="0"/>
                    <a:pt x="31607" y="0"/>
                  </a:cubicBezTo>
                  <a:close/>
                </a:path>
              </a:pathLst>
            </a:custGeom>
            <a:blipFill>
              <a:blip r:embed="rId4"/>
              <a:stretch>
                <a:fillRect l="-6841" t="0" r="-684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94817" y="2782372"/>
            <a:ext cx="3353620" cy="5894830"/>
            <a:chOff x="0" y="0"/>
            <a:chExt cx="883258" cy="1552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3258" cy="1552548"/>
            </a:xfrm>
            <a:custGeom>
              <a:avLst/>
              <a:gdLst/>
              <a:ahLst/>
              <a:cxnLst/>
              <a:rect r="r" b="b" t="t" l="l"/>
              <a:pathLst>
                <a:path h="1552548" w="88325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1416345"/>
                  </a:lnTo>
                  <a:cubicBezTo>
                    <a:pt x="883258" y="1452468"/>
                    <a:pt x="868908" y="1487112"/>
                    <a:pt x="843365" y="1512655"/>
                  </a:cubicBezTo>
                  <a:cubicBezTo>
                    <a:pt x="817822" y="1538198"/>
                    <a:pt x="783178" y="1552548"/>
                    <a:pt x="747055" y="1552548"/>
                  </a:cubicBezTo>
                  <a:lnTo>
                    <a:pt x="136203" y="1552548"/>
                  </a:lnTo>
                  <a:cubicBezTo>
                    <a:pt x="100080" y="1552548"/>
                    <a:pt x="65436" y="1538198"/>
                    <a:pt x="39893" y="1512655"/>
                  </a:cubicBezTo>
                  <a:cubicBezTo>
                    <a:pt x="14350" y="1487112"/>
                    <a:pt x="0" y="1452468"/>
                    <a:pt x="0" y="1416345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83258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044420" y="-1848214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396943" y="1028700"/>
            <a:ext cx="647477" cy="647477"/>
          </a:xfrm>
          <a:custGeom>
            <a:avLst/>
            <a:gdLst/>
            <a:ahLst/>
            <a:cxnLst/>
            <a:rect r="r" b="b" t="t" l="l"/>
            <a:pathLst>
              <a:path h="647477" w="647477">
                <a:moveTo>
                  <a:pt x="0" y="0"/>
                </a:moveTo>
                <a:lnTo>
                  <a:pt x="647477" y="0"/>
                </a:lnTo>
                <a:lnTo>
                  <a:pt x="647477" y="647477"/>
                </a:lnTo>
                <a:lnTo>
                  <a:pt x="0" y="6474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044420" y="2971436"/>
            <a:ext cx="13214880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799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nput Variables: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(1) Pregnancies, (2) Glucose, (3) BloodPressure, (4) SkinThickness, (5) Insulin, (6) BMI, (7) Diabetes Pedigree Function (DPF), (8) Age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Each mapped to: Low, Medium, High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Output: Risk = Low, Medium, High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36287" y="1729354"/>
            <a:ext cx="9523013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96"/>
              </a:lnSpc>
              <a:spcBef>
                <a:spcPct val="0"/>
              </a:spcBef>
            </a:pPr>
            <a:r>
              <a:rPr lang="en-US" b="true" sz="48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Input &amp; Membership Functions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5657" y="3305269"/>
            <a:ext cx="5650143" cy="3676462"/>
            <a:chOff x="0" y="0"/>
            <a:chExt cx="1488104" cy="9682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8104" cy="968286"/>
            </a:xfrm>
            <a:custGeom>
              <a:avLst/>
              <a:gdLst/>
              <a:ahLst/>
              <a:cxnLst/>
              <a:rect r="r" b="b" t="t" l="l"/>
              <a:pathLst>
                <a:path h="968286" w="1488104">
                  <a:moveTo>
                    <a:pt x="0" y="0"/>
                  </a:moveTo>
                  <a:lnTo>
                    <a:pt x="1488104" y="0"/>
                  </a:lnTo>
                  <a:lnTo>
                    <a:pt x="1488104" y="968286"/>
                  </a:lnTo>
                  <a:lnTo>
                    <a:pt x="0" y="968286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88104" cy="1015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32641" y="3305269"/>
            <a:ext cx="3676462" cy="367646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367814" y="-1205189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4975458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74039" y="1028700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95350"/>
            <a:ext cx="6654579" cy="88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0"/>
              </a:lnSpc>
              <a:spcBef>
                <a:spcPct val="0"/>
              </a:spcBef>
            </a:pPr>
            <a:r>
              <a:rPr lang="en-US" b="true" sz="50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Rule Base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8358" y="1708150"/>
            <a:ext cx="8009692" cy="828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Total: 40 rules</a:t>
            </a: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Examples:</a:t>
            </a: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EF3A5D"/>
                </a:solidFill>
                <a:latin typeface="Aileron Bold"/>
                <a:ea typeface="Aileron Bold"/>
                <a:cs typeface="Aileron Bold"/>
                <a:sym typeface="Aileron Bold"/>
              </a:rPr>
              <a:t>IF Glucose is High AND BMI is High</a:t>
            </a: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EF3A5D"/>
                </a:solidFill>
                <a:latin typeface="Aileron Bold"/>
                <a:ea typeface="Aileron Bold"/>
                <a:cs typeface="Aileron Bold"/>
                <a:sym typeface="Aileron Bold"/>
              </a:rPr>
              <a:t>THEN Risk is High </a:t>
            </a:r>
            <a:r>
              <a:rPr lang="en-US" b="true" sz="3600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FFD230"/>
                </a:solidFill>
                <a:latin typeface="Aileron Bold"/>
                <a:ea typeface="Aileron Bold"/>
                <a:cs typeface="Aileron Bold"/>
                <a:sym typeface="Aileron Bold"/>
              </a:rPr>
              <a:t>IF Glucose is Low AND Age is Young</a:t>
            </a: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FFD230"/>
                </a:solidFill>
                <a:latin typeface="Aileron Bold"/>
                <a:ea typeface="Aileron Bold"/>
                <a:cs typeface="Aileron Bold"/>
                <a:sym typeface="Aileron Bold"/>
              </a:rPr>
              <a:t>THEN Risk is Low  </a:t>
            </a: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9DCD5A"/>
                </a:solidFill>
                <a:latin typeface="Aileron Bold"/>
                <a:ea typeface="Aileron Bold"/>
                <a:cs typeface="Aileron Bold"/>
                <a:sym typeface="Aileron Bold"/>
              </a:rPr>
              <a:t>IF Pregnancies are Few</a:t>
            </a: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9DCD5A"/>
                </a:solidFill>
                <a:latin typeface="Aileron Bold"/>
                <a:ea typeface="Aileron Bold"/>
                <a:cs typeface="Aileron Bold"/>
                <a:sym typeface="Aileron Bold"/>
              </a:rPr>
              <a:t>AND Glucose is Medium</a:t>
            </a: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9DCD5A"/>
                </a:solidFill>
                <a:latin typeface="Aileron Bold"/>
                <a:ea typeface="Aileron Bold"/>
                <a:cs typeface="Aileron Bold"/>
                <a:sym typeface="Aileron Bold"/>
              </a:rPr>
              <a:t>THEN Risk is Medium</a:t>
            </a: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Designed to reflect real-world medical reasoning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7349"/>
            <a:ext cx="3176441" cy="10287000"/>
            <a:chOff x="0" y="0"/>
            <a:chExt cx="49211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114" cy="1593725"/>
            </a:xfrm>
            <a:custGeom>
              <a:avLst/>
              <a:gdLst/>
              <a:ahLst/>
              <a:cxnLst/>
              <a:rect r="r" b="b" t="t" l="l"/>
              <a:pathLst>
                <a:path h="1593725" w="492114">
                  <a:moveTo>
                    <a:pt x="0" y="0"/>
                  </a:moveTo>
                  <a:lnTo>
                    <a:pt x="492114" y="0"/>
                  </a:lnTo>
                  <a:lnTo>
                    <a:pt x="49211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08174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243241" y="-1845934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32840" y="8879212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72604" y="5143500"/>
            <a:ext cx="11160236" cy="2509577"/>
          </a:xfrm>
          <a:custGeom>
            <a:avLst/>
            <a:gdLst/>
            <a:ahLst/>
            <a:cxnLst/>
            <a:rect r="r" b="b" t="t" l="l"/>
            <a:pathLst>
              <a:path h="2509577" w="11160236">
                <a:moveTo>
                  <a:pt x="0" y="0"/>
                </a:moveTo>
                <a:lnTo>
                  <a:pt x="11160236" y="0"/>
                </a:lnTo>
                <a:lnTo>
                  <a:pt x="11160236" y="2509577"/>
                </a:lnTo>
                <a:lnTo>
                  <a:pt x="0" y="25095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35109" y="1684009"/>
            <a:ext cx="7838517" cy="100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112"/>
              </a:lnSpc>
              <a:spcBef>
                <a:spcPct val="0"/>
              </a:spcBef>
            </a:pPr>
            <a:r>
              <a:rPr lang="en-US" b="true" sz="56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Class</a:t>
            </a:r>
            <a:r>
              <a:rPr lang="en-US" b="true" sz="5600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ification Output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16264" y="2680970"/>
            <a:ext cx="11157362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        New Columns Added to Dataset: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Risk_Score → crisp output from fuzzy system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Fuzzy_Result → binary label (0 = Non-Diabetic, 1 = Diabetic)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Fuzzy_Classification → readable output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3901" y="1028700"/>
            <a:ext cx="3353620" cy="8229600"/>
            <a:chOff x="0" y="0"/>
            <a:chExt cx="883258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3258" cy="2167467"/>
            </a:xfrm>
            <a:custGeom>
              <a:avLst/>
              <a:gdLst/>
              <a:ahLst/>
              <a:cxnLst/>
              <a:rect r="r" b="b" t="t" l="l"/>
              <a:pathLst>
                <a:path h="2167467" w="88325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2031264"/>
                  </a:lnTo>
                  <a:cubicBezTo>
                    <a:pt x="883258" y="2106487"/>
                    <a:pt x="822278" y="2167467"/>
                    <a:pt x="747055" y="2167467"/>
                  </a:cubicBezTo>
                  <a:lnTo>
                    <a:pt x="136203" y="2167467"/>
                  </a:lnTo>
                  <a:cubicBezTo>
                    <a:pt x="100080" y="2167467"/>
                    <a:pt x="65436" y="2153117"/>
                    <a:pt x="39893" y="2127574"/>
                  </a:cubicBezTo>
                  <a:cubicBezTo>
                    <a:pt x="14350" y="2102031"/>
                    <a:pt x="0" y="2067387"/>
                    <a:pt x="0" y="2031264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83258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0024" y="1028700"/>
            <a:ext cx="1496945" cy="14969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46066" y="1358520"/>
            <a:ext cx="824861" cy="837306"/>
          </a:xfrm>
          <a:custGeom>
            <a:avLst/>
            <a:gdLst/>
            <a:ahLst/>
            <a:cxnLst/>
            <a:rect r="r" b="b" t="t" l="l"/>
            <a:pathLst>
              <a:path h="837306" w="824861">
                <a:moveTo>
                  <a:pt x="0" y="0"/>
                </a:moveTo>
                <a:lnTo>
                  <a:pt x="824861" y="0"/>
                </a:lnTo>
                <a:lnTo>
                  <a:pt x="824861" y="837306"/>
                </a:lnTo>
                <a:lnTo>
                  <a:pt x="0" y="83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909" y="7567140"/>
            <a:ext cx="1230927" cy="1230927"/>
          </a:xfrm>
          <a:custGeom>
            <a:avLst/>
            <a:gdLst/>
            <a:ahLst/>
            <a:cxnLst/>
            <a:rect r="r" b="b" t="t" l="l"/>
            <a:pathLst>
              <a:path h="1230927" w="1230927">
                <a:moveTo>
                  <a:pt x="0" y="0"/>
                </a:moveTo>
                <a:lnTo>
                  <a:pt x="1230927" y="0"/>
                </a:lnTo>
                <a:lnTo>
                  <a:pt x="1230927" y="1230927"/>
                </a:lnTo>
                <a:lnTo>
                  <a:pt x="0" y="1230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03354" y="2372318"/>
            <a:ext cx="8481292" cy="5542364"/>
          </a:xfrm>
          <a:custGeom>
            <a:avLst/>
            <a:gdLst/>
            <a:ahLst/>
            <a:cxnLst/>
            <a:rect r="r" b="b" t="t" l="l"/>
            <a:pathLst>
              <a:path h="5542364" w="8481292">
                <a:moveTo>
                  <a:pt x="0" y="0"/>
                </a:moveTo>
                <a:lnTo>
                  <a:pt x="8481292" y="0"/>
                </a:lnTo>
                <a:lnTo>
                  <a:pt x="8481292" y="5542364"/>
                </a:lnTo>
                <a:lnTo>
                  <a:pt x="0" y="55423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88044" y="914400"/>
            <a:ext cx="7828142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96"/>
              </a:lnSpc>
              <a:spcBef>
                <a:spcPct val="0"/>
              </a:spcBef>
            </a:pPr>
            <a:r>
              <a:rPr lang="en-US" b="true" sz="48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Evaluation &amp; Accuracy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63491" y="1745555"/>
            <a:ext cx="6961017" cy="2043955"/>
          </a:xfrm>
          <a:custGeom>
            <a:avLst/>
            <a:gdLst/>
            <a:ahLst/>
            <a:cxnLst/>
            <a:rect r="r" b="b" t="t" l="l"/>
            <a:pathLst>
              <a:path h="2043955" w="6961017">
                <a:moveTo>
                  <a:pt x="0" y="0"/>
                </a:moveTo>
                <a:lnTo>
                  <a:pt x="6961018" y="0"/>
                </a:lnTo>
                <a:lnTo>
                  <a:pt x="6961018" y="2043956"/>
                </a:lnTo>
                <a:lnTo>
                  <a:pt x="0" y="20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78431" y="4453086"/>
            <a:ext cx="9131138" cy="1986023"/>
          </a:xfrm>
          <a:custGeom>
            <a:avLst/>
            <a:gdLst/>
            <a:ahLst/>
            <a:cxnLst/>
            <a:rect r="r" b="b" t="t" l="l"/>
            <a:pathLst>
              <a:path h="1986023" w="9131138">
                <a:moveTo>
                  <a:pt x="0" y="0"/>
                </a:moveTo>
                <a:lnTo>
                  <a:pt x="9131138" y="0"/>
                </a:lnTo>
                <a:lnTo>
                  <a:pt x="9131138" y="1986022"/>
                </a:lnTo>
                <a:lnTo>
                  <a:pt x="0" y="1986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38703" y="7102683"/>
            <a:ext cx="8810594" cy="1864929"/>
          </a:xfrm>
          <a:custGeom>
            <a:avLst/>
            <a:gdLst/>
            <a:ahLst/>
            <a:cxnLst/>
            <a:rect r="r" b="b" t="t" l="l"/>
            <a:pathLst>
              <a:path h="1864929" w="8810594">
                <a:moveTo>
                  <a:pt x="0" y="0"/>
                </a:moveTo>
                <a:lnTo>
                  <a:pt x="8810594" y="0"/>
                </a:lnTo>
                <a:lnTo>
                  <a:pt x="8810594" y="1864929"/>
                </a:lnTo>
                <a:lnTo>
                  <a:pt x="0" y="1864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29929" y="242697"/>
            <a:ext cx="7828142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96"/>
              </a:lnSpc>
              <a:spcBef>
                <a:spcPct val="0"/>
              </a:spcBef>
            </a:pPr>
            <a:r>
              <a:rPr lang="en-US" b="true" sz="48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Code 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0760" y="1301055"/>
            <a:ext cx="5086480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499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Import related libraries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00760" y="4008586"/>
            <a:ext cx="5086480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499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Define fuzzy input variable for each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0760" y="6658183"/>
            <a:ext cx="5086480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499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Output variable : risk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1745555"/>
            <a:ext cx="11301259" cy="1878834"/>
          </a:xfrm>
          <a:custGeom>
            <a:avLst/>
            <a:gdLst/>
            <a:ahLst/>
            <a:cxnLst/>
            <a:rect r="r" b="b" t="t" l="l"/>
            <a:pathLst>
              <a:path h="1878834" w="11301259">
                <a:moveTo>
                  <a:pt x="0" y="0"/>
                </a:moveTo>
                <a:lnTo>
                  <a:pt x="11301258" y="0"/>
                </a:lnTo>
                <a:lnTo>
                  <a:pt x="11301258" y="1878835"/>
                </a:lnTo>
                <a:lnTo>
                  <a:pt x="0" y="1878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60404" y="4240340"/>
            <a:ext cx="9167192" cy="899767"/>
          </a:xfrm>
          <a:custGeom>
            <a:avLst/>
            <a:gdLst/>
            <a:ahLst/>
            <a:cxnLst/>
            <a:rect r="r" b="b" t="t" l="l"/>
            <a:pathLst>
              <a:path h="899767" w="9167192">
                <a:moveTo>
                  <a:pt x="0" y="0"/>
                </a:moveTo>
                <a:lnTo>
                  <a:pt x="9167192" y="0"/>
                </a:lnTo>
                <a:lnTo>
                  <a:pt x="9167192" y="899767"/>
                </a:lnTo>
                <a:lnTo>
                  <a:pt x="0" y="8997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76884" y="5756057"/>
            <a:ext cx="9334232" cy="1917607"/>
          </a:xfrm>
          <a:custGeom>
            <a:avLst/>
            <a:gdLst/>
            <a:ahLst/>
            <a:cxnLst/>
            <a:rect r="r" b="b" t="t" l="l"/>
            <a:pathLst>
              <a:path h="1917607" w="9334232">
                <a:moveTo>
                  <a:pt x="0" y="0"/>
                </a:moveTo>
                <a:lnTo>
                  <a:pt x="9334232" y="0"/>
                </a:lnTo>
                <a:lnTo>
                  <a:pt x="9334232" y="1917607"/>
                </a:lnTo>
                <a:lnTo>
                  <a:pt x="0" y="1917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68682" y="8289614"/>
            <a:ext cx="8350636" cy="1183951"/>
          </a:xfrm>
          <a:custGeom>
            <a:avLst/>
            <a:gdLst/>
            <a:ahLst/>
            <a:cxnLst/>
            <a:rect r="r" b="b" t="t" l="l"/>
            <a:pathLst>
              <a:path h="1183951" w="8350636">
                <a:moveTo>
                  <a:pt x="0" y="0"/>
                </a:moveTo>
                <a:lnTo>
                  <a:pt x="8350636" y="0"/>
                </a:lnTo>
                <a:lnTo>
                  <a:pt x="8350636" y="1183951"/>
                </a:lnTo>
                <a:lnTo>
                  <a:pt x="0" y="11839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29929" y="242697"/>
            <a:ext cx="7828142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96"/>
              </a:lnSpc>
              <a:spcBef>
                <a:spcPct val="0"/>
              </a:spcBef>
            </a:pPr>
            <a:r>
              <a:rPr lang="en-US" b="true" sz="48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Code Implementation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00760" y="1301055"/>
            <a:ext cx="5086480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499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Define fuzzy rules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0760" y="3795840"/>
            <a:ext cx="5086480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499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Create a simulation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0760" y="5311557"/>
            <a:ext cx="5086480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499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Predict risk for each report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0760" y="7845114"/>
            <a:ext cx="5086480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499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Calculate accuracy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80466" y="1028700"/>
            <a:ext cx="3076459" cy="3076459"/>
          </a:xfrm>
          <a:custGeom>
            <a:avLst/>
            <a:gdLst/>
            <a:ahLst/>
            <a:cxnLst/>
            <a:rect r="r" b="b" t="t" l="l"/>
            <a:pathLst>
              <a:path h="3076459" w="3076459">
                <a:moveTo>
                  <a:pt x="0" y="0"/>
                </a:moveTo>
                <a:lnTo>
                  <a:pt x="3076459" y="0"/>
                </a:lnTo>
                <a:lnTo>
                  <a:pt x="3076459" y="3076459"/>
                </a:lnTo>
                <a:lnTo>
                  <a:pt x="0" y="3076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23130" y="3861098"/>
            <a:ext cx="5650143" cy="6425902"/>
            <a:chOff x="0" y="0"/>
            <a:chExt cx="1488104" cy="1692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8104" cy="1692419"/>
            </a:xfrm>
            <a:custGeom>
              <a:avLst/>
              <a:gdLst/>
              <a:ahLst/>
              <a:cxnLst/>
              <a:rect r="r" b="b" t="t" l="l"/>
              <a:pathLst>
                <a:path h="1692419" w="1488104">
                  <a:moveTo>
                    <a:pt x="0" y="0"/>
                  </a:moveTo>
                  <a:lnTo>
                    <a:pt x="1488104" y="0"/>
                  </a:lnTo>
                  <a:lnTo>
                    <a:pt x="1488104" y="1692419"/>
                  </a:lnTo>
                  <a:lnTo>
                    <a:pt x="0" y="1692419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88104" cy="1740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08476" y="1028700"/>
            <a:ext cx="5664797" cy="566479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155324" y="3099455"/>
            <a:ext cx="1291547" cy="1291547"/>
          </a:xfrm>
          <a:custGeom>
            <a:avLst/>
            <a:gdLst/>
            <a:ahLst/>
            <a:cxnLst/>
            <a:rect r="r" b="b" t="t" l="l"/>
            <a:pathLst>
              <a:path h="1291547" w="1291547">
                <a:moveTo>
                  <a:pt x="0" y="0"/>
                </a:moveTo>
                <a:lnTo>
                  <a:pt x="1291548" y="0"/>
                </a:lnTo>
                <a:lnTo>
                  <a:pt x="1291548" y="1291547"/>
                </a:lnTo>
                <a:lnTo>
                  <a:pt x="0" y="12915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167033" y="3049175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0" y="0"/>
                </a:moveTo>
                <a:lnTo>
                  <a:pt x="1519327" y="0"/>
                </a:lnTo>
                <a:lnTo>
                  <a:pt x="1519327" y="469611"/>
                </a:lnTo>
                <a:lnTo>
                  <a:pt x="0" y="4696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81211" y="8788690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0" y="0"/>
                </a:moveTo>
                <a:lnTo>
                  <a:pt x="1519327" y="0"/>
                </a:lnTo>
                <a:lnTo>
                  <a:pt x="1519327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58761" y="4823609"/>
            <a:ext cx="8121706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Successfully applied fuzzy logic to classify diabetes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Interpretable rules with explainable outcome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No need for training or ML models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Achieved 72.66% accuracy using human-like reasoning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Fuzzy logic is suitable for healthcare applications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7033" y="3511606"/>
            <a:ext cx="5430398" cy="116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4"/>
              </a:lnSpc>
              <a:spcBef>
                <a:spcPct val="0"/>
              </a:spcBef>
            </a:pPr>
            <a:r>
              <a:rPr lang="en-US" b="true" sz="64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70689" y="3176727"/>
            <a:ext cx="9346622" cy="389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58"/>
              </a:lnSpc>
            </a:pPr>
            <a:r>
              <a:rPr lang="en-US" b="true" sz="16848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11163" y="7791225"/>
            <a:ext cx="305535" cy="302202"/>
          </a:xfrm>
          <a:custGeom>
            <a:avLst/>
            <a:gdLst/>
            <a:ahLst/>
            <a:cxnLst/>
            <a:rect r="r" b="b" t="t" l="l"/>
            <a:pathLst>
              <a:path h="302202" w="305535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24608" y="-1072654"/>
            <a:ext cx="11438784" cy="2839490"/>
            <a:chOff x="0" y="0"/>
            <a:chExt cx="3012684" cy="7478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12684" cy="747849"/>
            </a:xfrm>
            <a:custGeom>
              <a:avLst/>
              <a:gdLst/>
              <a:ahLst/>
              <a:cxnLst/>
              <a:rect r="r" b="b" t="t" l="l"/>
              <a:pathLst>
                <a:path h="747849" w="3012684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95527" y="1028700"/>
            <a:ext cx="1496945" cy="149694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673581" y="1447879"/>
            <a:ext cx="940838" cy="658587"/>
          </a:xfrm>
          <a:custGeom>
            <a:avLst/>
            <a:gdLst/>
            <a:ahLst/>
            <a:cxnLst/>
            <a:rect r="r" b="b" t="t" l="l"/>
            <a:pathLst>
              <a:path h="658587" w="940838">
                <a:moveTo>
                  <a:pt x="0" y="0"/>
                </a:moveTo>
                <a:lnTo>
                  <a:pt x="940838" y="0"/>
                </a:lnTo>
                <a:lnTo>
                  <a:pt x="940838" y="658587"/>
                </a:lnTo>
                <a:lnTo>
                  <a:pt x="0" y="658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24608" y="4750679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0" y="0"/>
                </a:moveTo>
                <a:lnTo>
                  <a:pt x="1519327" y="0"/>
                </a:lnTo>
                <a:lnTo>
                  <a:pt x="1519327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3344065" y="4750679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1519327" y="0"/>
                </a:moveTo>
                <a:lnTo>
                  <a:pt x="0" y="0"/>
                </a:lnTo>
                <a:lnTo>
                  <a:pt x="0" y="469610"/>
                </a:lnTo>
                <a:lnTo>
                  <a:pt x="1519327" y="469610"/>
                </a:lnTo>
                <a:lnTo>
                  <a:pt x="15193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8996715"/>
            <a:ext cx="18288000" cy="1290285"/>
            <a:chOff x="0" y="0"/>
            <a:chExt cx="4816593" cy="3398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339828"/>
            </a:xfrm>
            <a:custGeom>
              <a:avLst/>
              <a:gdLst/>
              <a:ahLst/>
              <a:cxnLst/>
              <a:rect r="r" b="b" t="t" l="l"/>
              <a:pathLst>
                <a:path h="33982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0E2F5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878050" y="565845"/>
            <a:ext cx="2381250" cy="925711"/>
          </a:xfrm>
          <a:custGeom>
            <a:avLst/>
            <a:gdLst/>
            <a:ahLst/>
            <a:cxnLst/>
            <a:rect r="r" b="b" t="t" l="l"/>
            <a:pathLst>
              <a:path h="925711" w="2381250">
                <a:moveTo>
                  <a:pt x="0" y="0"/>
                </a:moveTo>
                <a:lnTo>
                  <a:pt x="2381250" y="0"/>
                </a:lnTo>
                <a:lnTo>
                  <a:pt x="2381250" y="925710"/>
                </a:lnTo>
                <a:lnTo>
                  <a:pt x="0" y="925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DAGpra9JzSs</dc:identifier>
  <dcterms:modified xsi:type="dcterms:W3CDTF">2011-08-01T06:04:30Z</dcterms:modified>
  <cp:revision>1</cp:revision>
  <dc:title>Section01A_Diabetes (Presentation)</dc:title>
</cp:coreProperties>
</file>